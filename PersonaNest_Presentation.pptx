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286000"/>
            <a:ext cx="6400800" cy="6400800"/>
          </a:xfrm>
          <a:prstGeom prst="ellipse">
            <a:avLst/>
          </a:prstGeom>
          <a:solidFill>
            <a:srgbClr val="7C5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F6B6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5" name="Image 0" descr="C:\Users\hashe\AppData\Local\Temp\claude\C--Users-hashe-OneDrive-Documents-Methodology-Methodology-Project\557a32e6-dcf8-49d5-be65-324da4fadbf3\scratchpad\pptx\icons\n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9637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FOR EVERYTHING YOU LOVE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8803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PersonaNest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media journal for tracking games, movies, TV, anime, manga, books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music — with a shared catalogue, social features, and a personalized taste profile.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 ·  .NET 8  ·  EF CORE  ·  SQL SERVER  ·  SIGNALR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catalogue.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entry is yours.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 separates two things most journal apps mix together: a community-built Media catalogue (one row per movie, game, book...) and each user's personal Entry logging their own experience with it — rating, review, privacy, and status.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6" name="Image 0" descr="C:\Users\hashe\AppData\Local\Temp\claude\C--Users-hashe-OneDrive-Documents-Methodology-Methodology-Project\557a32e6-dcf8-49d5-be65-324da4fadbf3\scratchpad\pptx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087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9593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Community-built catalogue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42519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media once, everyone logs against 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0" name="Image 1" descr="C:\Users\hashe\AppData\Local\Temp\claude\C--Users-hashe-OneDrive-Documents-Methodology-Methodology-Project\557a32e6-dcf8-49d5-be65-324da4fadbf3\scratchpad\pptx\icons\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773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46451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taste profile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63040" y="49377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Auto-computed from your own entries, refreshed in the background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4" name="Image 2" descr="C:\Users\hashe\AppData\Local\Temp\claude\C--Users-hashe-OneDrive-Documents-Methodology-Methodology-Project\557a32e6-dcf8-49d5-be65-324da4fadbf3\scratchpad\pptx\icons\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458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53309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layer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56235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Follow, comment, like, and see a feed of what people you follow are logging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315200" y="914400"/>
            <a:ext cx="4114800" cy="5074920"/>
          </a:xfrm>
          <a:prstGeom prst="roundRect">
            <a:avLst>
              <a:gd name="adj" fmla="val 2667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68096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CATEGORIES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80960" y="1737360"/>
            <a:ext cx="502920" cy="502920"/>
          </a:xfrm>
          <a:prstGeom prst="ellipse">
            <a:avLst/>
          </a:prstGeom>
          <a:solidFill>
            <a:srgbClr val="5B3FE8"/>
          </a:solidFill>
          <a:ln/>
        </p:spPr>
      </p:sp>
      <p:pic>
        <p:nvPicPr>
          <p:cNvPr id="20" name="Image 3" descr="C:\Users\hashe\AppData\Local\Temp\claude\C--Users-hashe-OneDrive-Documents-Methodology-Methodology-Project\557a32e6-dcf8-49d5-be65-324da4fadbf3\scratchpad\pptx\icons\fi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61" y="185806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&amp; TV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680960" y="2788920"/>
            <a:ext cx="502920" cy="502920"/>
          </a:xfrm>
          <a:prstGeom prst="ellipse">
            <a:avLst/>
          </a:prstGeom>
          <a:solidFill>
            <a:srgbClr val="5B3FE8"/>
          </a:solidFill>
          <a:ln/>
        </p:spPr>
      </p:sp>
      <p:pic>
        <p:nvPicPr>
          <p:cNvPr id="23" name="Image 4" descr="C:\Users\hashe\AppData\Local\Temp\claude\C--Users-hashe-OneDrive-Documents-Methodology-Methodology-Project\557a32e6-dcf8-49d5-be65-324da4fadbf3\scratchpad\pptx\icons\gamep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661" y="2909621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6676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7680960" y="3840480"/>
            <a:ext cx="502920" cy="502920"/>
          </a:xfrm>
          <a:prstGeom prst="ellipse">
            <a:avLst/>
          </a:prstGeom>
          <a:solidFill>
            <a:srgbClr val="5B3FE8"/>
          </a:solidFill>
          <a:ln/>
        </p:spPr>
      </p:sp>
      <p:pic>
        <p:nvPicPr>
          <p:cNvPr id="26" name="Image 5" descr="C:\Users\hashe\AppData\Local\Temp\claude\C--Users-hashe-OneDrive-Documents-Methodology-Methodology-Project\557a32e6-dcf8-49d5-be65-324da4fadbf3\scratchpad\pptx\icons\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1661" y="3961181"/>
            <a:ext cx="261518" cy="26151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667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Anime &amp; Manga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7680960" y="4892040"/>
            <a:ext cx="502920" cy="502920"/>
          </a:xfrm>
          <a:prstGeom prst="ellipse">
            <a:avLst/>
          </a:prstGeom>
          <a:solidFill>
            <a:srgbClr val="5B3FE8"/>
          </a:solidFill>
          <a:ln/>
        </p:spPr>
      </p:sp>
      <p:pic>
        <p:nvPicPr>
          <p:cNvPr id="29" name="Image 6" descr="C:\Users\hashe\AppData\Local\Temp\claude\C--Users-hashe-OneDrive-Documents-Methodology-Methodology-Project\557a32e6-dcf8-49d5-be65-324da4fadbf3\scratchpad\pptx\icons\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1661" y="5012741"/>
            <a:ext cx="261518" cy="26151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3667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direction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depends on Services, Services depends on Infrastructure — never the other way around. No layer is skipped.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91840" y="2331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API controllers, Razor 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4760" y="3090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B0"/>
                </a:solidFill>
              </a:rPr>
              <a:t>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73552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5B3FE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64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91840" y="32735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DTOs, manual mapping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4032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B0"/>
                </a:solidFill>
              </a:rPr>
              <a:t>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4A3B8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06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91840" y="42153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DbContext, EF configs, repositories, Unit of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49743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B0"/>
                </a:solidFill>
              </a:rPr>
              <a:t>▾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157216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1D1D2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2486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91840" y="515721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enums, abstractions — no dependencies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914400"/>
            <a:ext cx="3977640" cy="5074920"/>
          </a:xfrm>
          <a:prstGeom prst="roundRect">
            <a:avLst>
              <a:gd name="adj" fmla="val 2759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234440"/>
            <a:ext cx="502920" cy="50292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22" name="Image 0" descr="C:\Users\hashe\AppData\Local\Temp\claude\C--Users-hashe-OneDrive-Documents-Methodology-Methodology-Project\557a32e6-dcf8-49d5-be65-324da4fadbf3\scratchpad\pptx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8821" y="1355141"/>
            <a:ext cx="261518" cy="26151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582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836408" y="203911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5" name="Text 22"/>
          <p:cNvSpPr/>
          <p:nvPr/>
        </p:nvSpPr>
        <p:spPr>
          <a:xfrm>
            <a:off x="8046720" y="19110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+ Unit of Work — services never see DbContext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836408" y="281635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0" y="26883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Mapping everywhere — no AutoMapper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36408" y="359359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Text 26"/>
          <p:cNvSpPr/>
          <p:nvPr/>
        </p:nvSpPr>
        <p:spPr>
          <a:xfrm>
            <a:off x="8046720" y="346557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Code-First, Fluent API only (no data-annotation mapping)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836408" y="437083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1" name="Text 28"/>
          <p:cNvSpPr/>
          <p:nvPr/>
        </p:nvSpPr>
        <p:spPr>
          <a:xfrm>
            <a:off x="8046720" y="42428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— User / Moderator / Admin roles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836408" y="514807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3" name="Text 30"/>
          <p:cNvSpPr/>
          <p:nvPr/>
        </p:nvSpPr>
        <p:spPr>
          <a:xfrm>
            <a:off x="8046720" y="50200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ServiceResult&lt;T&gt; for expected failures — exceptions stay exceptional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user can actually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21408"/>
            <a:ext cx="548640" cy="54864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6" name="Image 0" descr="C:\Users\hashe\AppData\Local\Temp\claude\C--Users-hashe-OneDrive-Documents-Methodology-Methodology-Project\557a32e6-dcf8-49d5-be65-324da4fadbf3\scratchpad\pptx\icons\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22530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56232" y="209397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Entries &amp; Media Catalogue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88720" y="2788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rating, review, status and privacy per media item. Duplicate-detection warns before a community item gets re-added.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121408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1" name="Image 1" descr="C:\Users\hashe\AppData\Local\Temp\claude\C--Users-hashe-OneDrive-Documents-Methodology-Methodology-Project\557a32e6-dcf8-49d5-be65-324da4fadbf3\scratchpad\pptx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794" y="22530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209397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720840" y="2788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other users, comment and reply (one level deep), like entries and comments, and see a following-activity feed.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40233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43000" y="4315968"/>
            <a:ext cx="548640" cy="548640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16" name="Image 2" descr="C:\Users\hashe\AppData\Local\Temp\claude\C--Users-hashe-OneDrive-Documents-Methodology-Methodology-Project\557a32e6-dcf8-49d5-be65-324da4fadbf3\scratchpad\pptx\icons\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74" y="44476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428853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&amp; Favorites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188720" y="49834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media into personal collections; one-click favorite any catalogue item.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40233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315968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3" descr="C:\Users\hashe\AppData\Local\Temp\claude\C--Users-hashe-OneDrive-Documents-Methodology-Methodology-Project\557a32e6-dcf8-49d5-be65-324da4fadbf3\scratchpad\pptx\icons\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794" y="44476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428853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720840" y="49834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content, moderator review queue, ban/warn actions, apply-to-become-a-moderator flow — three role tiers.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taste profile you never fill out yourself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entirely from real activity by a background service every 15 minutes — never on-demand, never guessed.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77440" y="2450592"/>
            <a:ext cx="4480560" cy="237744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2450592"/>
            <a:ext cx="4480560" cy="237744"/>
          </a:xfrm>
          <a:prstGeom prst="roundRect">
            <a:avLst>
              <a:gd name="adj" fmla="val 15385"/>
            </a:avLst>
          </a:prstGeom>
          <a:solidFill>
            <a:srgbClr val="7C5CFC"/>
          </a:solidFill>
          <a:ln/>
        </p:spPr>
      </p:sp>
      <p:sp>
        <p:nvSpPr>
          <p:cNvPr id="8" name="Text 6"/>
          <p:cNvSpPr/>
          <p:nvPr/>
        </p:nvSpPr>
        <p:spPr>
          <a:xfrm>
            <a:off x="6931152" y="24231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77440" y="2953512"/>
            <a:ext cx="4480560" cy="237744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2953512"/>
            <a:ext cx="2987040" cy="237744"/>
          </a:xfrm>
          <a:prstGeom prst="roundRect">
            <a:avLst>
              <a:gd name="adj" fmla="val 15385"/>
            </a:avLst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931152" y="2926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3456432"/>
            <a:ext cx="4480560" cy="237744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3456432"/>
            <a:ext cx="1493520" cy="237744"/>
          </a:xfrm>
          <a:prstGeom prst="roundRect">
            <a:avLst>
              <a:gd name="adj" fmla="val 15385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931152" y="3429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3959352"/>
            <a:ext cx="4480560" cy="237744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3959352"/>
            <a:ext cx="995680" cy="237744"/>
          </a:xfrm>
          <a:prstGeom prst="roundRect">
            <a:avLst>
              <a:gd name="adj" fmla="val 15385"/>
            </a:avLst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3931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5001768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1D1D2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001768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513332" y="5001768"/>
            <a:ext cx="1248156" cy="329184"/>
          </a:xfrm>
          <a:prstGeom prst="roundRect">
            <a:avLst>
              <a:gd name="adj" fmla="val 50000"/>
            </a:avLst>
          </a:prstGeom>
          <a:solidFill>
            <a:srgbClr val="1D1D2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13332" y="5001768"/>
            <a:ext cx="12481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Masterpiece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98648" y="5001768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1D1D2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50017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75888" y="5001768"/>
            <a:ext cx="1074420" cy="329184"/>
          </a:xfrm>
          <a:prstGeom prst="roundRect">
            <a:avLst>
              <a:gd name="adj" fmla="val 50000"/>
            </a:avLst>
          </a:prstGeom>
          <a:solidFill>
            <a:srgbClr val="1D1D2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5001768"/>
            <a:ext cx="10744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Slow-burn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87468" y="5001768"/>
            <a:ext cx="726948" cy="329184"/>
          </a:xfrm>
          <a:prstGeom prst="roundRect">
            <a:avLst>
              <a:gd name="adj" fmla="val 50000"/>
            </a:avLst>
          </a:prstGeom>
          <a:solidFill>
            <a:srgbClr val="1D1D2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7468" y="5001768"/>
            <a:ext cx="726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242316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2715768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34" name="Image 0" descr="C:\Users\hashe\AppData\Local\Temp\claude\C--Users-hashe-OneDrive-Documents-Methodology-Methodology-Project\557a32e6-dcf8-49d5-be65-324da4fadbf3\scratchpad\pptx\icons\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5941" y="2836469"/>
            <a:ext cx="261518" cy="26151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753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Taste Narrative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7680960" y="33832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8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gravitate toward story-driven RPGs and dramatic anime — clearly drawn to worlds you can get lost in."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68096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Anthropic Claude (Haiku) from the same stats shown above — cached, not called on every page view.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behind the pages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777240" cy="777240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6" name="Image 0" descr="C:\Users\hashe\AppData\Local\Temp\claude\C--Users-hashe-OneDrive-Documents-Methodology-Methodology-Project\557a32e6-dcf8-49d5-be65-324da4fadbf3\scratchpad\pptx\icons\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818" y="22439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7510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logging — Serilog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94560" y="2359152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ILogger&lt;T&gt; across Web / Services / Infrastructure routes to console + a rolling daily file. Auth, moderation actions, and every HTTP request are logged.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264408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3493008"/>
            <a:ext cx="777240" cy="77724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1" name="Image 1" descr="C:\Users\hashe\AppData\Local\Temp\claude\C--Users-hashe-OneDrive-Documents-Methodology-Methodology-Project\557a32e6-dcf8-49d5-be65-324da4fadbf3\scratchpad\pptx\icons\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18" y="367954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341071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services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194560" y="379476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hosted service running two independent loops: taste-profile refresh (15 min) and media aggregate reconciliation (24h) — each in its own DB scope, failures isolated.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4700016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4928616"/>
            <a:ext cx="777240" cy="77724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6" name="Image 2" descr="C:\Users\hashe\AppData\Local\Temp\claude\C--Users-hashe-OneDrive-Documents-Methodology-Methodology-Project\557a32e6-dcf8-49d5-be65-324da4fadbf3\scratchpad\pptx\icons\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18" y="5115154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94560" y="4846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+ Swagger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194560" y="523036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/api/categories, /api/media, /api/media/{id}, /api/entries/mine — DTOs only, layered through the same Services/Repositories as the MVC site. Documented at /swagger.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Real-time, and talking to the outside world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1488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C:\Users\hashe\AppData\Local\Temp\claude\C--Users-hashe-OneDrive-Documents-Methodology-Methodology-Project\557a32e6-dcf8-49d5-be65-324da4fadbf3\scratchpad\pptx\icons\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22914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Notifications (SignalR)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07008" y="309067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29443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Follows, likes, comments and replies notify instantly — no page reload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07008" y="405079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39044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+ full history work with JavaScript off; SignalR only makes updates arrive live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207008" y="501091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486460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two independent live sessions: one held an open WebSocket, the other triggered a follow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182880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29400" y="2148840"/>
            <a:ext cx="594360" cy="59436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6" name="Image 1" descr="C:\Users\hashe\AppData\Local\Temp\claude\C--Users-hashe-OneDrive-Documents-Methodology-Methodology-Project\557a32e6-dcf8-49d5-be65-324da4fadbf3\scratchpad\pptx\icons\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2291486"/>
            <a:ext cx="309067" cy="30906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APIs — one per category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629400" y="2926080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2926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9098280" y="29260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/ TV Shows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629400" y="3483864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34838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9098280" y="34838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629400" y="4041648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40416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Jikan (MyAnimeList)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9098280" y="4041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/ Manga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4599432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28" name="Text 24"/>
          <p:cNvSpPr/>
          <p:nvPr/>
        </p:nvSpPr>
        <p:spPr>
          <a:xfrm>
            <a:off x="6812280" y="4599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Books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9098280" y="45994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629400" y="5157216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1D1D2A"/>
          </a:solidFill>
          <a:ln/>
        </p:spPr>
      </p:sp>
      <p:sp>
        <p:nvSpPr>
          <p:cNvPr id="31" name="Text 27"/>
          <p:cNvSpPr/>
          <p:nvPr/>
        </p:nvSpPr>
        <p:spPr>
          <a:xfrm>
            <a:off x="6812280" y="51572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MusicBrainz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9098280" y="515721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7C5CFC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33272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20824" y="16916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0824" y="16916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78808" y="1691640"/>
            <a:ext cx="2473452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8808" y="1691640"/>
            <a:ext cx="2473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33172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31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04872" y="2331720"/>
            <a:ext cx="2473452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2331720"/>
            <a:ext cx="2473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42916" y="2331720"/>
            <a:ext cx="1129284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2916" y="2331720"/>
            <a:ext cx="112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2971800"/>
            <a:ext cx="1513332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1513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00884" y="2971800"/>
            <a:ext cx="1129284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0884" y="2971800"/>
            <a:ext cx="112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794760" y="297180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9718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023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C5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DELIVERED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71800" y="4023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297180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0" y="4023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C5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512064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52360" y="1691640"/>
            <a:ext cx="3977640" cy="4206240"/>
          </a:xfrm>
          <a:prstGeom prst="roundRect">
            <a:avLst>
              <a:gd name="adj" fmla="val 2759"/>
            </a:avLst>
          </a:prstGeom>
          <a:solidFill>
            <a:srgbClr val="7C5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81812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0" descr="C:\Users\hashe\AppData\Local\Temp\claude\C--Users-hashe-OneDrive-Documents-Methodology-Methodology-Project\557a32e6-dcf8-49d5-be65-324da4fadbf3\scratchpad\pptx\icons\n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1739" y="2211019"/>
            <a:ext cx="332842" cy="33284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818120" y="2926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7818120" y="35204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F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happy to walk through any part of the architecture, a live demo, or the code.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PERSONANEST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2026-08-17T11:46:24Z</dcterms:created>
  <dcterms:modified xsi:type="dcterms:W3CDTF">2026-08-17T11:46:24Z</dcterms:modified>
</cp:coreProperties>
</file>